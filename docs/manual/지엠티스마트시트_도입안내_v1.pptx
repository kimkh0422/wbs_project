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717499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 dirty="0" err="1">
                <a:solidFill>
                  <a:srgbClr val="1F2937"/>
                </a:solidFill>
                <a:latin typeface="맑은 고딕"/>
              </a:rPr>
              <a:t>지엠티</a:t>
            </a:r>
            <a:r>
              <a:rPr sz="4400" b="1" i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ko-KR" altLang="en-US" sz="4400" b="1" i="0" dirty="0">
                <a:solidFill>
                  <a:srgbClr val="1F2937"/>
                </a:solidFill>
                <a:latin typeface="맑은 고딕"/>
              </a:rPr>
              <a:t>스마트시트</a:t>
            </a:r>
            <a:endParaRPr sz="4400" b="1" i="0" dirty="0">
              <a:solidFill>
                <a:srgbClr val="1F2937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맑은 고딕"/>
              </a:rPr>
              <a:t>사용자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맑은 고딕"/>
              </a:rPr>
              <a:t>v1.0 · 2026-05-08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맑은 고딕"/>
              </a:rPr>
              <a:t>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화면은 4개 영역으로 구성됩니다.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8288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지엠티 프로젝트 매니저 — 회사 도입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tlCol="0" anchor="ctr"/>
          <a:lstStyle/>
          <a:p>
            <a:pPr algn="ctr"/>
            <a:r>
              <a:rPr sz="1400" b="1" i="0">
                <a:solidFill>
                  <a:srgbClr val="1E40AF"/>
                </a:solidFill>
                <a:latin typeface="맑은 고딕"/>
              </a:rPr>
              <a:t>①  헤더</a:t>
            </a:r>
          </a:p>
          <a:p>
            <a:r>
              <a:rPr sz="1100" b="0" i="0">
                <a:solidFill>
                  <a:srgbClr val="1F2937"/>
                </a:solidFill>
                <a:latin typeface="맑은 고딕"/>
              </a:rPr>
              <a:t>프로젝트 선택, 뷰 전환, 새 작업 추가, 사용자 메뉴.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3474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tlCol="0" anchor="ctr"/>
          <a:lstStyle/>
          <a:p>
            <a:pPr algn="ctr"/>
            <a:r>
              <a:rPr sz="1400" b="1" i="0">
                <a:solidFill>
                  <a:srgbClr val="1E40AF"/>
                </a:solidFill>
                <a:latin typeface="맑은 고딕"/>
              </a:rPr>
              <a:t>②  뷰 탭</a:t>
            </a:r>
          </a:p>
          <a:p>
            <a:r>
              <a:rPr sz="1100" b="0" i="0">
                <a:solidFill>
                  <a:srgbClr val="1F2937"/>
                </a:solidFill>
                <a:latin typeface="맑은 고딕"/>
              </a:rPr>
              <a:t>표 / 표+간트 / 간트 / 칸반 / 마인드맵 / 대시보드.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3474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tlCol="0" anchor="ctr"/>
          <a:lstStyle/>
          <a:p>
            <a:pPr algn="ctr"/>
            <a:r>
              <a:rPr sz="1400" b="1" i="0">
                <a:solidFill>
                  <a:srgbClr val="1E40AF"/>
                </a:solidFill>
                <a:latin typeface="맑은 고딕"/>
              </a:rPr>
              <a:t>③  본문</a:t>
            </a:r>
          </a:p>
          <a:p>
            <a:r>
              <a:rPr sz="1100" b="0" i="0">
                <a:solidFill>
                  <a:srgbClr val="1F2937"/>
                </a:solidFill>
                <a:latin typeface="맑은 고딕"/>
              </a:rPr>
              <a:t>선택한 뷰의 화면 (작업 표·간트 차트 등).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00600"/>
            <a:ext cx="3474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00000" rtlCol="0" anchor="ctr"/>
          <a:lstStyle/>
          <a:p>
            <a:pPr algn="ctr"/>
            <a:r>
              <a:rPr sz="1400" b="1" i="0">
                <a:solidFill>
                  <a:srgbClr val="1E40AF"/>
                </a:solidFill>
                <a:latin typeface="맑은 고딕"/>
              </a:rPr>
              <a:t>④  사이드바</a:t>
            </a:r>
          </a:p>
          <a:p>
            <a:r>
              <a:rPr sz="1100" b="0" i="0">
                <a:solidFill>
                  <a:srgbClr val="1F2937"/>
                </a:solidFill>
                <a:latin typeface="맑은 고딕"/>
              </a:rPr>
              <a:t>현재 화면의 단축키 안내 (우측 [?] 버튼).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498079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ctr"/>
            <a:r>
              <a:rPr sz="1400" b="1" i="0" dirty="0">
                <a:solidFill>
                  <a:srgbClr val="9CA3AF"/>
                </a:solidFill>
                <a:latin typeface="맑은 고딕"/>
              </a:rPr>
              <a:t>📷  </a:t>
            </a:r>
            <a:r>
              <a:rPr sz="1400" b="1" i="0" dirty="0" err="1">
                <a:solidFill>
                  <a:srgbClr val="9CA3AF"/>
                </a:solidFill>
                <a:latin typeface="맑은 고딕"/>
              </a:rPr>
              <a:t>이미지</a:t>
            </a:r>
            <a:r>
              <a:rPr sz="1400" b="1" i="0" dirty="0">
                <a:solidFill>
                  <a:srgbClr val="9CA3AF"/>
                </a:solidFill>
                <a:latin typeface="맑은 고딕"/>
              </a:rPr>
              <a:t> 1 — </a:t>
            </a:r>
            <a:r>
              <a:rPr sz="1400" b="1" i="0" dirty="0" err="1">
                <a:solidFill>
                  <a:srgbClr val="9CA3AF"/>
                </a:solidFill>
                <a:latin typeface="맑은 고딕"/>
              </a:rPr>
              <a:t>전체</a:t>
            </a:r>
            <a:r>
              <a:rPr sz="1400" b="1" i="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9CA3AF"/>
                </a:solidFill>
                <a:latin typeface="맑은 고딕"/>
              </a:rPr>
              <a:t>화면</a:t>
            </a:r>
            <a:endParaRPr sz="1400" b="1" i="0" dirty="0">
              <a:solidFill>
                <a:srgbClr val="9CA3AF"/>
              </a:solidFill>
              <a:latin typeface="맑은 고딕"/>
            </a:endParaRPr>
          </a:p>
          <a:p>
            <a:pPr algn="ctr"/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브라우저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전체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화면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캡처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. ①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헤더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②뷰 탭 ③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본문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④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사이드바를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캡처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후 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직접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번호로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표시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9CA3AF"/>
                </a:solidFill>
                <a:latin typeface="맑은 고딕"/>
              </a:rPr>
              <a:t>가능</a:t>
            </a:r>
            <a:r>
              <a:rPr sz="1100" b="0" i="0" dirty="0">
                <a:solidFill>
                  <a:srgbClr val="9CA3AF"/>
                </a:solidFill>
                <a:latin typeface="맑은 고딕"/>
              </a:rPr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C29836E-E7AF-931D-4BD1-5D0AE27E6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7498079" cy="49834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맑은 고딕"/>
              </a:rPr>
              <a:t>가입과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회사 이메일로 가입 후 관리자 승인 → 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8288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지엠티 프로젝트 매니저 — 회사 도입 안내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25880"/>
            <a:ext cx="292608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맑은 고딕"/>
              </a:rPr>
              <a:t>회원가입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292608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맑은 고딕"/>
              </a:rPr>
              <a:t>회사 이메일·비밀번호 입력 후
[가입] 클릭.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13716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325880"/>
            <a:ext cx="292608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맑은 고딕"/>
              </a:rPr>
              <a:t>관리자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91640"/>
            <a:ext cx="292608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맑은 고딕"/>
              </a:rPr>
              <a:t>관리자가 [회원 관리]에서
승인하면 사용 가능.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0" y="13716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325880"/>
            <a:ext cx="292608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맑은 고딕"/>
              </a:rPr>
              <a:t>로그인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691640"/>
            <a:ext cx="2926080" cy="9144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맑은 고딕"/>
              </a:rPr>
              <a:t>승인 후 로그인 시
조직 회원 정보 자동 연결.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11538E5-A9CA-C73C-5FF7-C88CA488C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6" y="2377440"/>
            <a:ext cx="9208655" cy="3877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맑은 고딕"/>
              </a:rPr>
              <a:t>프로젝트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헤더 [+ 프로젝트] → 모달에서 입력 → [저장]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8288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지엠티 프로젝트 매니저 — 회사 도입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  <a:latin typeface="맑은 고딕"/>
              </a:rPr>
              <a:t>입력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</a:rPr>
              <a:t>•  프로젝트 이름 (필수)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</a:rPr>
              <a:t>•  시작일 / 종료일 — 작업 일정의 허용 범위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</a:rPr>
              <a:t>•  공수 단위 — 분 / 시간 / 일 / 주 중 선택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</a:rPr>
              <a:t>•  투입인원 — 이름 입력 후 Enter로 다음 인원 추가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</a:rPr>
              <a:t>•  주간보고용 정보 — 약어·전체명·구분·주관기관 등 (선택)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530352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💡  투입인원 입력란에서 이름을 치면 조직 회원 목록이 자동완성으로 표시됩니다. 일부 글자만 입력해도 매칭되는 이름이 좁혀집니다.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71600"/>
            <a:ext cx="5760720" cy="4846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ctr"/>
            <a:endParaRPr sz="1100" b="0" i="0" dirty="0">
              <a:solidFill>
                <a:srgbClr val="9CA3AF"/>
              </a:solidFill>
              <a:latin typeface="맑은 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636EE9-CDC5-8093-5953-AEBFAD94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760720" cy="4848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맑은 고딕"/>
              </a:rPr>
              <a:t>작업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표 상단의 청색 입력 행에 작업명 입력 → 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8288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5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지엠티 프로젝트 매니저 — 회사 도입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  <a:latin typeface="맑은 고딕"/>
              </a:rPr>
              <a:t>표 작업명 셀에서 사용하는 단축키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463040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28800"/>
            <a:ext cx="365760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같은 레벨 형제로 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463040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Shift+Enter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31720"/>
            <a:ext cx="365760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현재 행 위에 형제 추가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463040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Insert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834640"/>
            <a:ext cx="365760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현재 행의 자식 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463040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337560"/>
            <a:ext cx="365760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들여쓰기 (자식으로 만들기)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463040" cy="411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Shift+Tab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840480"/>
            <a:ext cx="365760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내어쓰기 (부모의 형제로)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530352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💡  작업명을 비운 상태로 Enter 또는 다른 곳 클릭 시 행이 자동 삭제됩니다.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371600"/>
            <a:ext cx="5760720" cy="4846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ctr"/>
            <a:endParaRPr sz="1100" b="0" i="0" dirty="0">
              <a:solidFill>
                <a:srgbClr val="9CA3AF"/>
              </a:solidFill>
              <a:latin typeface="맑은 고딕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32C639C-CBB1-F02D-78FB-FEF64AAC7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43394"/>
            <a:ext cx="5760720" cy="24056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AA18B2-EC96-2123-7238-8DFFF9269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31920"/>
            <a:ext cx="57607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맑은 고딕"/>
              </a:rPr>
              <a:t>작업 편집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셀을 두 번 클릭하면 입력 모드로 전환됩니다.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8288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6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지엠티 프로젝트 매니저 — 회사 도입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1번 클릭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54480"/>
            <a:ext cx="411480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행 선택 (점선 테두리 표시)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28016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2번 클릭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94560"/>
            <a:ext cx="411480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입력 모드 진입 (F2 또는 Enter도 가능)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39"/>
            <a:ext cx="1280160" cy="4572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39"/>
            <a:ext cx="411480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값 확정. 같은 셀 머무르며 ←/→로 다음 셀 이동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1280160" cy="4572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Esc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474720"/>
            <a:ext cx="411480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입력 취소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530352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💡  담당자 셀 클릭 시 조직 회원 자동완성이 표시됩니다. 이름 일부를 입력하면 매칭되는 인원으로 좁혀지며, 부서·직위가 함께 노출됩니다.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71600"/>
            <a:ext cx="5760720" cy="4846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ctr"/>
            <a:endParaRPr sz="1100" b="0" i="0" dirty="0">
              <a:solidFill>
                <a:srgbClr val="9CA3AF"/>
              </a:solidFill>
              <a:latin typeface="맑은 고딕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8454CB-6022-06EA-209C-2DDE34B6B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6" y="1404160"/>
            <a:ext cx="5760720" cy="242315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28E71DB-B45F-9DF2-FBAE-DCF3A1948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6" y="3931920"/>
            <a:ext cx="576071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맑은 고딕"/>
              </a:rPr>
              <a:t>6가지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헤더 가운데 탭으로 화면을 전환합니다. 같은 데이터를 다른 방식으로 표시.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8288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7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지엠티 프로젝트 매니저 — 회사 도입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tlCol="0" anchor="ctr"/>
          <a:lstStyle/>
          <a:p>
            <a:pPr algn="ctr"/>
            <a:endParaRPr sz="1100" b="0" i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tlCol="0" anchor="ctr"/>
          <a:lstStyle/>
          <a:p>
            <a:pPr algn="ctr"/>
            <a:endParaRPr sz="1100" b="0" i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21040" y="14630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tlCol="0" anchor="ctr"/>
          <a:lstStyle/>
          <a:p>
            <a:pPr algn="ctr"/>
            <a:endParaRPr sz="1100" b="0" i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tlCol="0" anchor="ctr"/>
          <a:lstStyle/>
          <a:p>
            <a:pPr algn="ctr"/>
            <a:endParaRPr sz="1100" b="0" i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80560" y="38404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tlCol="0" anchor="ctr"/>
          <a:lstStyle/>
          <a:p>
            <a:pPr algn="ctr"/>
            <a:endParaRPr sz="1100" b="0" i="0" dirty="0">
              <a:solidFill>
                <a:srgbClr val="6B7280"/>
              </a:solidFill>
              <a:latin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21040" y="38404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50000" rtlCol="0" anchor="ctr"/>
          <a:lstStyle/>
          <a:p>
            <a:pPr algn="ctr"/>
            <a:endParaRPr sz="1100" b="0" i="0" dirty="0">
              <a:solidFill>
                <a:srgbClr val="6B7280"/>
              </a:solidFill>
              <a:latin typeface="맑은 고딕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1574618-E377-599A-DB60-8AF640FB0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63040"/>
            <a:ext cx="3602736" cy="219456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4250B7A-73E7-02E8-BD2A-E22B95C94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485900"/>
            <a:ext cx="3657600" cy="219456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687AA60-0FAE-B86C-66CB-991ECCE17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485900"/>
            <a:ext cx="3657600" cy="219456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520DD3F-5026-0781-7D1C-6D96F4F6A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3657600" cy="219455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2DFCEC7-7445-B1FC-3A21-C15FC890B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3840480"/>
            <a:ext cx="3657600" cy="219455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D84F46C-AF9A-F2C8-44D7-08EB8E898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386334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맑은 고딕"/>
              </a:rPr>
              <a:t>공유와 권한 부여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헤더 ⋮ → [공유]. 권한 부여는 3가지 방법.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8288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8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지엠티 프로젝트 매니저 — 회사 도입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  <a:latin typeface="맑은 고딕"/>
              </a:rPr>
              <a:t>공유 방법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맑은 고딕"/>
              </a:rPr>
              <a:t>초대 링크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572000" cy="8229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맑은 고딕"/>
              </a:rPr>
              <a:t>[초대 링크 생성] → 복사 → 전달.
링크로 접속·로그인 시 편집 권한 자동 부여 (7일 유효).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맑은 고딕"/>
              </a:rPr>
              <a:t>가입 회원 일괄 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4572000" cy="8229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맑은 고딕"/>
              </a:rPr>
              <a:t>조직 필터로 좁히기 → 다중 체크 →
역할(보기/편집) 선택 → [선택 추가].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맑은 고딕"/>
              </a:rPr>
              <a:t>미가입자 사전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4572000" cy="8229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맑은 고딕"/>
              </a:rPr>
              <a:t>이름·이메일로 등록.
해당 인원 가입 시 자동으로 멤버로 추가됨.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71600"/>
            <a:ext cx="5760720" cy="4846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ctr"/>
            <a:endParaRPr sz="1100" b="0" i="0" dirty="0">
              <a:solidFill>
                <a:srgbClr val="9CA3AF"/>
              </a:solidFill>
              <a:latin typeface="맑은 고딕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FDB4B22-DB57-1F80-D3C5-7CA9EFD56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760720" cy="48463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맑은 고딕"/>
              </a:rPr>
              <a:t>단축키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표 화면에서 자주 사용하는 단축키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828800" cy="365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9 /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지엠티 프로젝트 매니저 — 회사 도입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Ctrl+K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544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전체 작업 검색 (다른 프로젝트도)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같은 레벨 새 작업 추가 (작업명 편집 중)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Tab / Shift+Tab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들여쓰기 / 내어쓰기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Insert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현재 행의 자식 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F2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4688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포커스된 셀 편집 시작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688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Alt+↑ / Alt+↓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4688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형제 작업 순서 위/아래로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260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Shift+→ / 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260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트리 펼치기 / 접기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260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Ctrl+Z / Ctrl+Shift+Z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9260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되돌리기 / 다시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Space (행 포커스)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832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체크박스 토글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383280"/>
            <a:ext cx="2103120" cy="3840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383280"/>
            <a:ext cx="3108960" cy="457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맑은 고딕"/>
              </a:rPr>
              <a:t>선택 작업 삭제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rIns="150000" rtlCol="0" anchor="ctr"/>
          <a:lstStyle/>
          <a:p>
            <a:pPr algn="l"/>
            <a:r>
              <a:rPr sz="1200" b="0" i="0">
                <a:solidFill>
                  <a:srgbClr val="1F2937"/>
                </a:solidFill>
                <a:latin typeface="맑은 고딕"/>
              </a:rPr>
              <a:t>💡  전체 단축키 일람은 화면 우측 [?] 사이드바에서 확인할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657</Words>
  <Application>Microsoft Office PowerPoint</Application>
  <PresentationFormat>와이드스크린</PresentationFormat>
  <Paragraphs>113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경환 김</cp:lastModifiedBy>
  <cp:revision>5</cp:revision>
  <dcterms:created xsi:type="dcterms:W3CDTF">2013-01-27T09:14:16Z</dcterms:created>
  <dcterms:modified xsi:type="dcterms:W3CDTF">2026-05-08T06:46:10Z</dcterms:modified>
  <cp:category/>
</cp:coreProperties>
</file>